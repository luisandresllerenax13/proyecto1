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Fredoka"/>
      <p:regular r:id="rId10"/>
      <p:bold r:id="rId11"/>
    </p:embeddedFont>
    <p:embeddedFont>
      <p:font typeface="Nunito"/>
      <p:regular r:id="rId12"/>
      <p:bold r:id="rId13"/>
      <p:italic r:id="rId14"/>
      <p:boldItalic r:id="rId15"/>
    </p:embeddedFont>
    <p:embeddedFont>
      <p:font typeface="JetBrains Mono"/>
      <p:regular r:id="rId16"/>
      <p:bold r:id="rId17"/>
      <p:italic r:id="rId18"/>
      <p:boldItalic r:id="rId19"/>
    </p:embeddedFont>
    <p:embeddedFont>
      <p:font typeface="Lexend Black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Black-bold.fntdata"/><Relationship Id="rId11" Type="http://schemas.openxmlformats.org/officeDocument/2006/relationships/font" Target="fonts/Fredoka-bold.fntdata"/><Relationship Id="rId10" Type="http://schemas.openxmlformats.org/officeDocument/2006/relationships/font" Target="fonts/Fredoka-regular.fntdata"/><Relationship Id="rId13" Type="http://schemas.openxmlformats.org/officeDocument/2006/relationships/font" Target="fonts/Nunito-bold.fntdata"/><Relationship Id="rId12" Type="http://schemas.openxmlformats.org/officeDocument/2006/relationships/font" Target="fonts/Nuni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Italic.fntdata"/><Relationship Id="rId14" Type="http://schemas.openxmlformats.org/officeDocument/2006/relationships/font" Target="fonts/Nunito-italic.fntdata"/><Relationship Id="rId17" Type="http://schemas.openxmlformats.org/officeDocument/2006/relationships/font" Target="fonts/JetBrainsMono-bold.fntdata"/><Relationship Id="rId16" Type="http://schemas.openxmlformats.org/officeDocument/2006/relationships/font" Target="fonts/JetBrainsMon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JetBrainsMono-boldItalic.fntdata"/><Relationship Id="rId6" Type="http://schemas.openxmlformats.org/officeDocument/2006/relationships/slide" Target="slides/slide1.xml"/><Relationship Id="rId18" Type="http://schemas.openxmlformats.org/officeDocument/2006/relationships/font" Target="fonts/JetBrains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d708803dfc8ce68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d708803dfc8ce6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0" y="1849075"/>
            <a:ext cx="121920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highlight>
                  <a:srgbClr val="EFEFEF"/>
                </a:highlight>
                <a:latin typeface="Lexend Black"/>
                <a:ea typeface="Lexend Black"/>
                <a:cs typeface="Lexend Black"/>
                <a:sym typeface="Lexend Black"/>
              </a:rPr>
              <a:t>ALGORITMOS DE ORDENAMIENTO</a:t>
            </a:r>
            <a:endParaRPr>
              <a:solidFill>
                <a:srgbClr val="000000"/>
              </a:solidFill>
              <a:highlight>
                <a:srgbClr val="EFEFEF"/>
              </a:highlight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0" y="3319075"/>
            <a:ext cx="12192000" cy="2308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CCCCCC"/>
                </a:highlight>
                <a:latin typeface="Lexend Black"/>
                <a:ea typeface="Lexend Black"/>
                <a:cs typeface="Lexend Black"/>
                <a:sym typeface="Lexend Black"/>
              </a:rPr>
              <a:t>Luis Andres Llerena Arredondo</a:t>
            </a:r>
            <a:endParaRPr>
              <a:solidFill>
                <a:schemeClr val="dk1"/>
              </a:solidFill>
              <a:highlight>
                <a:srgbClr val="CCCCCC"/>
              </a:highlight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CCCCCC"/>
                </a:highlight>
                <a:latin typeface="Lexend Black"/>
                <a:ea typeface="Lexend Black"/>
                <a:cs typeface="Lexend Black"/>
                <a:sym typeface="Lexend Black"/>
              </a:rPr>
              <a:t>David Esteban Urrutia Morales</a:t>
            </a:r>
            <a:endParaRPr>
              <a:solidFill>
                <a:schemeClr val="dk1"/>
              </a:solidFill>
              <a:highlight>
                <a:srgbClr val="CCCCCC"/>
              </a:highlight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CCCCCC"/>
                </a:highlight>
                <a:latin typeface="Lexend Black"/>
                <a:ea typeface="Lexend Black"/>
                <a:cs typeface="Lexend Black"/>
                <a:sym typeface="Lexend Black"/>
              </a:rPr>
              <a:t>Estructura de Datos</a:t>
            </a:r>
            <a:endParaRPr>
              <a:solidFill>
                <a:schemeClr val="dk1"/>
              </a:solidFill>
              <a:highlight>
                <a:srgbClr val="CCCCCC"/>
              </a:highlight>
              <a:latin typeface="Lexend Black"/>
              <a:ea typeface="Lexend Black"/>
              <a:cs typeface="Lexend Black"/>
              <a:sym typeface="Lexend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5809653" y="1991508"/>
            <a:ext cx="5863828" cy="3019425"/>
          </a:xfrm>
          <a:prstGeom prst="roundRect">
            <a:avLst>
              <a:gd fmla="val 504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233950" y="1519250"/>
            <a:ext cx="5027400" cy="1234200"/>
          </a:xfrm>
          <a:prstGeom prst="roundRect">
            <a:avLst>
              <a:gd fmla="val 14035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227700" y="3089045"/>
            <a:ext cx="5033700" cy="1234200"/>
          </a:xfrm>
          <a:prstGeom prst="roundRect">
            <a:avLst>
              <a:gd fmla="val 17204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227700" y="4858525"/>
            <a:ext cx="5368500" cy="1234200"/>
          </a:xfrm>
          <a:prstGeom prst="roundRect">
            <a:avLst>
              <a:gd fmla="val 22641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3081553" y="5184492"/>
            <a:ext cx="2305200" cy="582300"/>
          </a:xfrm>
          <a:prstGeom prst="roundRect">
            <a:avLst>
              <a:gd fmla="val 24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6057300" y="2620225"/>
            <a:ext cx="5368500" cy="638100"/>
          </a:xfrm>
          <a:prstGeom prst="roundRect">
            <a:avLst>
              <a:gd fmla="val 14925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6057303" y="3372633"/>
            <a:ext cx="5368528" cy="638175"/>
          </a:xfrm>
          <a:prstGeom prst="roundRect">
            <a:avLst>
              <a:gd fmla="val 14925" name="adj"/>
            </a:avLst>
          </a:prstGeom>
          <a:solidFill>
            <a:srgbClr val="FEFC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057303" y="4125108"/>
            <a:ext cx="5368528" cy="638175"/>
          </a:xfrm>
          <a:prstGeom prst="roundRect">
            <a:avLst>
              <a:gd fmla="val 14925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6057303" y="2620158"/>
            <a:ext cx="47625" cy="6381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057303" y="3372633"/>
            <a:ext cx="47625" cy="6381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057303" y="4125108"/>
            <a:ext cx="47625" cy="6381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09600" y="723900"/>
            <a:ext cx="7084166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Fredoka"/>
                <a:ea typeface="Fredoka"/>
                <a:cs typeface="Fredoka"/>
                <a:sym typeface="Fredoka"/>
              </a:rPr>
              <a:t>1. Búsqueda Lineal (O Buscar Uno por Uno)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7094662" y="2122105"/>
            <a:ext cx="59781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Fredoka"/>
                <a:ea typeface="Fredoka"/>
                <a:cs typeface="Fredoka"/>
                <a:sym typeface="Fredoka"/>
              </a:rPr>
              <a:t>¿Cuánto tiempo tarda? (Tiempo)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461814" y="1890713"/>
            <a:ext cx="45564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Nunito"/>
                <a:ea typeface="Nunito"/>
                <a:cs typeface="Nunito"/>
                <a:sym typeface="Nunito"/>
              </a:rPr>
              <a:t>Recorre la estructura de datos elemento por elemento desde el inicio hasta encontrar el objetivo o llegar al final.</a:t>
            </a:r>
            <a:endParaRPr b="1" i="0" sz="1700" u="none" cap="none" strike="noStrike">
              <a:solidFill>
                <a:srgbClr val="000000"/>
              </a:solidFill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370125" y="3454275"/>
            <a:ext cx="50337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825" u="none" cap="none" strike="noStrike">
                <a:solidFill>
                  <a:srgbClr val="475569"/>
                </a:solidFill>
                <a:latin typeface="Nunito"/>
                <a:ea typeface="Nunito"/>
                <a:cs typeface="Nunito"/>
                <a:sym typeface="Nunito"/>
              </a:rPr>
              <a:t>No requiere precondiciones sobre los datos </a:t>
            </a:r>
            <a:endParaRPr sz="2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825" u="none" cap="none" strike="noStrike">
                <a:solidFill>
                  <a:srgbClr val="475569"/>
                </a:solidFill>
                <a:latin typeface="Nunito"/>
                <a:ea typeface="Nunito"/>
                <a:cs typeface="Nunito"/>
                <a:sym typeface="Nunito"/>
              </a:rPr>
              <a:t>(pueden estar desordenados).</a:t>
            </a:r>
            <a:endParaRPr sz="2100"/>
          </a:p>
        </p:txBody>
      </p:sp>
      <p:sp>
        <p:nvSpPr>
          <p:cNvPr id="105" name="Google Shape;105;p14"/>
          <p:cNvSpPr txBox="1"/>
          <p:nvPr/>
        </p:nvSpPr>
        <p:spPr>
          <a:xfrm>
            <a:off x="269600" y="5254350"/>
            <a:ext cx="28119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2050" u="none" cap="none" strike="noStrike">
                <a:solidFill>
                  <a:srgbClr val="334155"/>
                </a:solidFill>
                <a:latin typeface="Nunito"/>
                <a:ea typeface="Nunito"/>
                <a:cs typeface="Nunito"/>
                <a:sym typeface="Nunito"/>
              </a:rPr>
              <a:t>Espacio que usa (Memoria):</a:t>
            </a:r>
            <a:endParaRPr b="1" i="0" sz="2400" u="none" cap="none" strike="noStrike">
              <a:solidFill>
                <a:srgbClr val="000000"/>
              </a:solidFill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3134055" y="5317208"/>
            <a:ext cx="220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Súper poquito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1833711" y="1519238"/>
            <a:ext cx="1812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Fredoka"/>
                <a:ea typeface="Fredoka"/>
                <a:cs typeface="Fredoka"/>
                <a:sym typeface="Fredoka"/>
              </a:rPr>
              <a:t>¿En qué consiste?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1743076" y="3101260"/>
            <a:ext cx="2287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Fredoka"/>
                <a:ea typeface="Fredoka"/>
                <a:cs typeface="Fredoka"/>
                <a:sym typeface="Fredoka"/>
              </a:rPr>
              <a:t>¿Qué necesitas antes?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238269" y="2691900"/>
            <a:ext cx="327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650" u="none" cap="none" strike="noStrike">
                <a:solidFill>
                  <a:srgbClr val="15803D"/>
                </a:solidFill>
                <a:latin typeface="Nunito"/>
                <a:ea typeface="Nunito"/>
                <a:cs typeface="Nunito"/>
                <a:sym typeface="Nunito"/>
              </a:rPr>
              <a:t> Mejor caso: Ω(1)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6238275" y="2929800"/>
            <a:ext cx="52656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1775" u="none" cap="none" strike="noStrike">
                <a:solidFill>
                  <a:srgbClr val="166534"/>
                </a:solidFill>
                <a:latin typeface="Nunito"/>
                <a:ea typeface="Nunito"/>
                <a:cs typeface="Nunito"/>
                <a:sym typeface="Nunito"/>
              </a:rPr>
              <a:t>El elemento se encuentra en la primera posición.</a:t>
            </a:r>
            <a:endParaRPr b="1" i="0" sz="2200" u="none" cap="none" strike="noStrike">
              <a:solidFill>
                <a:srgbClr val="000000"/>
              </a:solidFill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6238272" y="3394275"/>
            <a:ext cx="3278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450" u="none" cap="none" strike="noStrike">
                <a:solidFill>
                  <a:srgbClr val="A16207"/>
                </a:solidFill>
                <a:latin typeface="Nunito"/>
                <a:ea typeface="Nunito"/>
                <a:cs typeface="Nunito"/>
                <a:sym typeface="Nunito"/>
              </a:rPr>
              <a:t>Caso Promedio: Θ(n)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6238273" y="3706000"/>
            <a:ext cx="4122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1575" u="none" cap="none" strike="noStrike">
                <a:solidFill>
                  <a:srgbClr val="854D0E"/>
                </a:solidFill>
                <a:latin typeface="Nunito"/>
                <a:ea typeface="Nunito"/>
                <a:cs typeface="Nunito"/>
                <a:sym typeface="Nunito"/>
              </a:rPr>
              <a:t>El elemento se encuentra en el medio.</a:t>
            </a:r>
            <a:endParaRPr b="1" i="0" sz="2000" u="none" cap="none" strike="noStrike">
              <a:solidFill>
                <a:srgbClr val="000000"/>
              </a:solidFill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6238277" y="4258450"/>
            <a:ext cx="1455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450" u="none" cap="none" strike="noStrike">
                <a:solidFill>
                  <a:srgbClr val="B91C1C"/>
                </a:solidFill>
                <a:latin typeface="Nunito"/>
                <a:ea typeface="Nunito"/>
                <a:cs typeface="Nunito"/>
                <a:sym typeface="Nunito"/>
              </a:rPr>
              <a:t>Peor caso: O(n)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6238275" y="4458475"/>
            <a:ext cx="42105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1775" u="none" cap="none" strike="noStrike">
                <a:solidFill>
                  <a:srgbClr val="991B1B"/>
                </a:solidFill>
                <a:latin typeface="Nunito"/>
                <a:ea typeface="Nunito"/>
                <a:cs typeface="Nunito"/>
                <a:sym typeface="Nunito"/>
              </a:rPr>
              <a:t>El elemento está al final o no existe.</a:t>
            </a:r>
            <a:endParaRPr b="1" i="0" sz="1775" u="none" cap="none" strike="noStrike">
              <a:solidFill>
                <a:srgbClr val="991B1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5" name="Google Shape;115;p14" title="ima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51326">
            <a:off x="7968161" y="301076"/>
            <a:ext cx="2585026" cy="145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title="imag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6225" y="5020775"/>
            <a:ext cx="4880375" cy="179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/>
          <p:nvPr/>
        </p:nvSpPr>
        <p:spPr>
          <a:xfrm>
            <a:off x="609602" y="1487285"/>
            <a:ext cx="3336131" cy="2266950"/>
          </a:xfrm>
          <a:prstGeom prst="roundRect">
            <a:avLst>
              <a:gd fmla="val 4568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4054100" y="3735174"/>
            <a:ext cx="3919500" cy="2725500"/>
          </a:xfrm>
          <a:prstGeom prst="roundRect">
            <a:avLst>
              <a:gd fmla="val 3888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8246268" y="1371600"/>
            <a:ext cx="3336131" cy="2535036"/>
          </a:xfrm>
          <a:prstGeom prst="roundRect">
            <a:avLst>
              <a:gd fmla="val 4568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4263649" y="4268585"/>
            <a:ext cx="3500437" cy="800100"/>
          </a:xfrm>
          <a:prstGeom prst="roundRect">
            <a:avLst>
              <a:gd fmla="val 9523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4263650" y="5182975"/>
            <a:ext cx="3500400" cy="1177200"/>
          </a:xfrm>
          <a:prstGeom prst="roundRect">
            <a:avLst>
              <a:gd fmla="val 9523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8455818" y="1743075"/>
            <a:ext cx="2917031" cy="866775"/>
          </a:xfrm>
          <a:prstGeom prst="roundRect">
            <a:avLst>
              <a:gd fmla="val 8791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8455818" y="2667000"/>
            <a:ext cx="2917031" cy="866775"/>
          </a:xfrm>
          <a:prstGeom prst="roundRect">
            <a:avLst>
              <a:gd fmla="val 8791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609600" y="723900"/>
            <a:ext cx="610708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Fredoka"/>
                <a:ea typeface="Fredoka"/>
                <a:cs typeface="Fredoka"/>
                <a:sym typeface="Fredoka"/>
              </a:rPr>
              <a:t>2. Búsqueda Binaria (Cortar a la mitad)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4263650" y="3906625"/>
            <a:ext cx="3603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850" u="none" cap="none" strike="noStrike">
                <a:solidFill>
                  <a:srgbClr val="0F172A"/>
                </a:solidFill>
                <a:latin typeface="Fredoka"/>
                <a:ea typeface="Fredoka"/>
                <a:cs typeface="Fredoka"/>
                <a:sym typeface="Fredoka"/>
              </a:rPr>
              <a:t>¿Cómo sabe dónde buscar?</a:t>
            </a:r>
            <a:endParaRPr b="1" i="0" sz="1900" u="none" cap="none" strike="noStrike">
              <a:solidFill>
                <a:srgbClr val="000000"/>
              </a:solidFill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4416162" y="4315910"/>
            <a:ext cx="33672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1475" u="none" cap="none" strike="noStrike">
                <a:solidFill>
                  <a:srgbClr val="1E293B"/>
                </a:solidFill>
                <a:latin typeface="Nunito"/>
                <a:ea typeface="Nunito"/>
                <a:cs typeface="Nunito"/>
                <a:sym typeface="Nunito"/>
              </a:rPr>
              <a:t> El Rango [Izquierda, Derecha]</a:t>
            </a:r>
            <a:endParaRPr b="1" i="0" sz="1900" u="none" cap="none" strike="noStrike">
              <a:solidFill>
                <a:srgbClr val="000000"/>
              </a:solidFill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4416174" y="5289248"/>
            <a:ext cx="33672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1475" u="none" cap="none" strike="noStrike">
                <a:solidFill>
                  <a:srgbClr val="1E293B"/>
                </a:solidFill>
                <a:latin typeface="Nunito"/>
                <a:ea typeface="Nunito"/>
                <a:cs typeface="Nunito"/>
                <a:sym typeface="Nunito"/>
              </a:rPr>
              <a:t> ¿Cuándo se detiene el programa?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9467826" y="1485900"/>
            <a:ext cx="3488531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Fredoka"/>
                <a:ea typeface="Fredoka"/>
                <a:cs typeface="Fredoka"/>
                <a:sym typeface="Fredoka"/>
              </a:rPr>
              <a:t>Rapidez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8570118" y="1857375"/>
            <a:ext cx="2783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rgbClr val="166534"/>
                </a:solidFill>
                <a:latin typeface="Nunito"/>
                <a:ea typeface="Nunito"/>
                <a:cs typeface="Nunito"/>
                <a:sym typeface="Nunito"/>
              </a:rPr>
              <a:t>Mejor Caso Salió justo en el centro</a:t>
            </a:r>
            <a:endParaRPr b="1" i="0" sz="1300" u="none" cap="none" strike="noStrike">
              <a:solidFill>
                <a:srgbClr val="000000"/>
              </a:solidFill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8570118" y="2756364"/>
            <a:ext cx="27837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369A1"/>
                </a:solidFill>
                <a:latin typeface="Nunito"/>
                <a:ea typeface="Nunito"/>
                <a:cs typeface="Nunito"/>
                <a:sym typeface="Nunito"/>
              </a:rPr>
              <a:t>Peor Cas rapidísimo </a:t>
            </a:r>
            <a:r>
              <a:rPr b="1" i="0" lang="en-US" u="none" cap="none" strike="noStrike">
                <a:solidFill>
                  <a:srgbClr val="0369A1"/>
                </a:solidFill>
                <a:latin typeface="Nunito"/>
                <a:ea typeface="Nunito"/>
                <a:cs typeface="Nunito"/>
                <a:sym typeface="Nunito"/>
              </a:rPr>
              <a:t>Divide</a:t>
            </a:r>
            <a:r>
              <a:rPr b="1" i="0" lang="en-US" sz="1350" u="none" cap="none" strike="noStrike">
                <a:solidFill>
                  <a:srgbClr val="0369A1"/>
                </a:solidFill>
                <a:latin typeface="Nunito"/>
                <a:ea typeface="Nunito"/>
                <a:cs typeface="Nunito"/>
                <a:sym typeface="Nunito"/>
              </a:rPr>
              <a:t> a la mitad muchas veces.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1490765" y="1649210"/>
            <a:ext cx="382860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Fredoka"/>
                <a:ea typeface="Fredoka"/>
                <a:cs typeface="Fredoka"/>
                <a:sym typeface="Fredoka"/>
              </a:rPr>
              <a:t>¿Cómo funciona?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819150" y="2026648"/>
            <a:ext cx="3012300" cy="16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550" u="none" cap="none" strike="noStrike">
                <a:solidFill>
                  <a:srgbClr val="475569"/>
                </a:solidFill>
                <a:latin typeface="Nunito"/>
                <a:ea typeface="Nunito"/>
                <a:cs typeface="Nunito"/>
                <a:sym typeface="Nunito"/>
              </a:rPr>
              <a:t>Usa la técnica de </a:t>
            </a:r>
            <a:r>
              <a:rPr b="1" i="0" lang="en-US" sz="1550" u="none" cap="none" strike="noStrike">
                <a:solidFill>
                  <a:srgbClr val="475569"/>
                </a:solidFill>
                <a:latin typeface="Nunito"/>
                <a:ea typeface="Nunito"/>
                <a:cs typeface="Nunito"/>
                <a:sym typeface="Nunito"/>
              </a:rPr>
              <a:t>"Divide y Vencerás"</a:t>
            </a:r>
            <a:r>
              <a:rPr b="1" i="0" lang="en-US" sz="1550" u="none" cap="none" strike="noStrike">
                <a:solidFill>
                  <a:srgbClr val="475569"/>
                </a:solidFill>
                <a:latin typeface="Nunito"/>
                <a:ea typeface="Nunito"/>
                <a:cs typeface="Nunito"/>
                <a:sym typeface="Nunito"/>
              </a:rPr>
              <a:t>. En vez de revisar todo, miras la mitad y descartas la parte donde sabes que no está.</a:t>
            </a:r>
            <a:endParaRPr b="1" i="0" sz="1900" u="none" cap="none" strike="noStrike">
              <a:solidFill>
                <a:srgbClr val="000000"/>
              </a:solidFill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4387474" y="4601960"/>
            <a:ext cx="3348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Nunito"/>
                <a:ea typeface="Nunito"/>
                <a:cs typeface="Nunito"/>
                <a:sym typeface="Nunito"/>
              </a:rPr>
              <a:t>El dato SIEMPRE tiene que estar atrapado entre el límite izquierdo y el derecho.</a:t>
            </a:r>
            <a:endParaRPr b="1" i="0" sz="1700" u="none" cap="none" strike="noStrike">
              <a:solidFill>
                <a:srgbClr val="000000"/>
              </a:solidFill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4387474" y="5516360"/>
            <a:ext cx="33480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1475" u="none" cap="none" strike="noStrike">
                <a:solidFill>
                  <a:srgbClr val="475569"/>
                </a:solidFill>
                <a:latin typeface="Nunito"/>
                <a:ea typeface="Nunito"/>
                <a:cs typeface="Nunito"/>
                <a:sym typeface="Nunito"/>
              </a:rPr>
              <a:t>1. Cuando lo encuentra.</a:t>
            </a:r>
            <a:b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75" u="none" cap="none" strike="noStrike">
                <a:solidFill>
                  <a:srgbClr val="475569"/>
                </a:solidFill>
                <a:latin typeface="Nunito"/>
                <a:ea typeface="Nunito"/>
                <a:cs typeface="Nunito"/>
                <a:sym typeface="Nunito"/>
              </a:rPr>
              <a:t> 2. O si </a:t>
            </a:r>
            <a:r>
              <a:rPr b="1" i="0" lang="en-US" sz="1475" u="none" cap="none" strike="noStrike">
                <a:solidFill>
                  <a:srgbClr val="EF4444"/>
                </a:solidFill>
                <a:latin typeface="Nunito"/>
                <a:ea typeface="Nunito"/>
                <a:cs typeface="Nunito"/>
                <a:sym typeface="Nunito"/>
              </a:rPr>
              <a:t>izquierda &gt; derecha</a:t>
            </a:r>
            <a:r>
              <a:rPr b="1" i="0" lang="en-US" sz="1475" u="none" cap="none" strike="noStrike">
                <a:solidFill>
                  <a:srgbClr val="475569"/>
                </a:solidFill>
                <a:latin typeface="Nunito"/>
                <a:ea typeface="Nunito"/>
                <a:cs typeface="Nunito"/>
                <a:sym typeface="Nunito"/>
              </a:rPr>
              <a:t> (significa que no existe).</a:t>
            </a:r>
            <a:endParaRPr b="1" i="0" sz="1900" u="none" cap="none" strike="noStrike">
              <a:solidFill>
                <a:srgbClr val="000000"/>
              </a:solidFill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8570128" y="2152650"/>
            <a:ext cx="897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2150" u="none" cap="none" strike="noStrike">
                <a:solidFill>
                  <a:srgbClr val="15803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Ω(1)</a:t>
            </a:r>
            <a:endParaRPr b="1" i="0" sz="2200" u="none" cap="none" strike="noStrike">
              <a:solidFill>
                <a:srgbClr val="000000"/>
              </a:solidFill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8570130" y="3176575"/>
            <a:ext cx="1790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8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O(log n)</a:t>
            </a:r>
            <a:endParaRPr b="1" i="0" sz="1900" u="none" cap="none" strike="noStrike">
              <a:solidFill>
                <a:srgbClr val="000000"/>
              </a:solidFill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8287962" y="3599000"/>
            <a:ext cx="33480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1575" u="none" cap="none" strike="noStrike">
                <a:solidFill>
                  <a:srgbClr val="1E293B"/>
                </a:solidFill>
                <a:latin typeface="Nunito"/>
                <a:ea typeface="Nunito"/>
                <a:cs typeface="Nunito"/>
                <a:sym typeface="Nunito"/>
              </a:rPr>
              <a:t>Espacio: O(1) en versión iterativa.</a:t>
            </a:r>
            <a:endParaRPr sz="2000"/>
          </a:p>
        </p:txBody>
      </p:sp>
      <p:pic>
        <p:nvPicPr>
          <p:cNvPr id="142" name="Google Shape;142;p15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8523" y="1248463"/>
            <a:ext cx="31606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5" title="imag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950" y="3906625"/>
            <a:ext cx="3160672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5" title="images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93901" y="4174125"/>
            <a:ext cx="3336124" cy="21861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/>
          <p:nvPr/>
        </p:nvSpPr>
        <p:spPr>
          <a:xfrm>
            <a:off x="609600" y="1929325"/>
            <a:ext cx="5372100" cy="275280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122375" y="1929313"/>
            <a:ext cx="5372100" cy="2752800"/>
          </a:xfrm>
          <a:prstGeom prst="roundRect">
            <a:avLst>
              <a:gd fmla="val 5228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961950" y="3386051"/>
            <a:ext cx="4667400" cy="1169100"/>
          </a:xfrm>
          <a:prstGeom prst="roundRect">
            <a:avLst>
              <a:gd fmla="val 18604" name="adj"/>
            </a:avLst>
          </a:prstGeom>
          <a:solidFill>
            <a:srgbClr val="F8FAFC"/>
          </a:solidFill>
          <a:ln cap="flat" cmpd="sng" w="15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150" lIns="144350" spcFirstLastPara="1" rIns="144350" wrap="square" tIns="72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42"/>
              <a:buFont typeface="Arial"/>
              <a:buNone/>
            </a:pPr>
            <a:r>
              <a:t/>
            </a:r>
            <a:endParaRPr b="0" i="0" sz="31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408125" y="2496573"/>
            <a:ext cx="4800600" cy="815700"/>
          </a:xfrm>
          <a:prstGeom prst="roundRect">
            <a:avLst>
              <a:gd fmla="val 13114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6408125" y="3543800"/>
            <a:ext cx="4800600" cy="815700"/>
          </a:xfrm>
          <a:prstGeom prst="roundRect">
            <a:avLst>
              <a:gd fmla="val 13114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 flipH="1">
            <a:off x="6446225" y="2496573"/>
            <a:ext cx="38100" cy="8157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 flipH="1">
            <a:off x="6446225" y="3543850"/>
            <a:ext cx="38100" cy="8157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609600" y="723900"/>
            <a:ext cx="6300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Fredoka"/>
                <a:ea typeface="Fredoka"/>
                <a:cs typeface="Fredoka"/>
                <a:sym typeface="Fredoka"/>
              </a:rPr>
              <a:t>3. Tablas Hash (Acceso Directo Secreto)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1009651" y="2118800"/>
            <a:ext cx="2950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850" u="none" cap="none" strike="noStrike">
                <a:solidFill>
                  <a:srgbClr val="0F172A"/>
                </a:solidFill>
                <a:latin typeface="Fredoka"/>
                <a:ea typeface="Fredoka"/>
                <a:cs typeface="Fredoka"/>
                <a:sym typeface="Fredoka"/>
              </a:rPr>
              <a:t>¿Cómo funciona la magia?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1009650" y="2486917"/>
            <a:ext cx="4896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325" u="none" cap="none" strike="noStrike">
                <a:solidFill>
                  <a:srgbClr val="475569"/>
                </a:solidFill>
                <a:latin typeface="Nunito"/>
                <a:ea typeface="Nunito"/>
                <a:cs typeface="Nunito"/>
                <a:sym typeface="Nunito"/>
              </a:rPr>
              <a:t>Usa una "Función Hash" que convierte un nombre o clave directamente en la posición exacta donde está guardado el dato.</a:t>
            </a:r>
            <a:endParaRPr b="1" i="0" sz="1600" u="none" cap="none" strike="noStrike">
              <a:solidFill>
                <a:srgbClr val="000000"/>
              </a:solidFill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961950" y="3666103"/>
            <a:ext cx="46674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9"/>
              <a:buFont typeface="Arial"/>
              <a:buNone/>
            </a:pPr>
            <a:r>
              <a:rPr b="0" i="0" lang="en-US" sz="1855" u="none" cap="none" strike="noStrike">
                <a:solidFill>
                  <a:srgbClr val="6B2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Clave ("Juan") 🡺 [Funci</a:t>
            </a:r>
            <a:r>
              <a:rPr lang="en-US" sz="1855">
                <a:solidFill>
                  <a:srgbClr val="6B2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ó</a:t>
            </a:r>
            <a:r>
              <a:rPr b="0" i="0" lang="en-US" sz="1855" u="none" cap="none" strike="noStrike">
                <a:solidFill>
                  <a:srgbClr val="6B2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 Hash] 🡺 Posición #5</a:t>
            </a:r>
            <a:endParaRPr b="0" i="0" sz="25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7771413" y="2115580"/>
            <a:ext cx="5696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850" u="none" cap="none" strike="noStrike">
                <a:solidFill>
                  <a:srgbClr val="0F172A"/>
                </a:solidFill>
                <a:latin typeface="Fredoka"/>
                <a:ea typeface="Fredoka"/>
                <a:cs typeface="Fredoka"/>
                <a:sym typeface="Fredoka"/>
              </a:rPr>
              <a:t>¿Qué tan rápido es?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6598625" y="2565200"/>
            <a:ext cx="2408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550" u="none" cap="none" strike="noStrike">
                <a:solidFill>
                  <a:srgbClr val="15803D"/>
                </a:solidFill>
                <a:latin typeface="Nunito"/>
                <a:ea typeface="Nunito"/>
                <a:cs typeface="Nunito"/>
                <a:sym typeface="Nunito"/>
              </a:rPr>
              <a:t>Casi Siempre: O(1)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6598625" y="2803700"/>
            <a:ext cx="3621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1475" u="none" cap="none" strike="noStrike">
                <a:solidFill>
                  <a:srgbClr val="166534"/>
                </a:solidFill>
                <a:latin typeface="Nunito"/>
                <a:ea typeface="Nunito"/>
                <a:cs typeface="Nunito"/>
                <a:sym typeface="Nunito"/>
              </a:rPr>
              <a:t>Instantáneo va directo a la posición sin buscar nada.</a:t>
            </a:r>
            <a:endParaRPr b="1" i="0" sz="1900" u="none" cap="none" strike="noStrike">
              <a:solidFill>
                <a:srgbClr val="000000"/>
              </a:solidFill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6598625" y="3611900"/>
            <a:ext cx="3076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550" u="none" cap="none" strike="noStrike">
                <a:solidFill>
                  <a:srgbClr val="B91C1C"/>
                </a:solidFill>
                <a:latin typeface="Nunito"/>
                <a:ea typeface="Nunito"/>
                <a:cs typeface="Nunito"/>
                <a:sym typeface="Nunito"/>
              </a:rPr>
              <a:t>Si hay "Colisiones": O(n)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6540425" y="3850400"/>
            <a:ext cx="45360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9"/>
              <a:buFont typeface="Arial"/>
              <a:buNone/>
            </a:pPr>
            <a:r>
              <a:rPr b="1" i="0" lang="en-US" sz="1299" u="none" cap="none" strike="noStrike">
                <a:solidFill>
                  <a:srgbClr val="991B1B"/>
                </a:solidFill>
                <a:latin typeface="Nunito"/>
                <a:ea typeface="Nunito"/>
                <a:cs typeface="Nunito"/>
                <a:sym typeface="Nunito"/>
              </a:rPr>
              <a:t>Ocurre si dos claves terminan cayendo en la misma casilla por accidente.</a:t>
            </a:r>
            <a:endParaRPr b="1" i="0" sz="1660" u="none" cap="none" strike="noStrike">
              <a:solidFill>
                <a:srgbClr val="000000"/>
              </a:solidFill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7310548" y="723900"/>
            <a:ext cx="4365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En Python se conocen como: Diccionarios</a:t>
            </a:r>
            <a:endParaRPr b="1" sz="1800"/>
          </a:p>
        </p:txBody>
      </p:sp>
      <p:pic>
        <p:nvPicPr>
          <p:cNvPr id="166" name="Google Shape;166;p16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4350" y="4781775"/>
            <a:ext cx="6544950" cy="20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