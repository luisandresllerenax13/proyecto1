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4"/>
  </p:notesMasterIdLst>
  <p:sldIdLst>
    <p:sldId id="260" r:id="rId2"/>
    <p:sldId id="268" r:id="rId3"/>
    <p:sldId id="257" r:id="rId4"/>
    <p:sldId id="258" r:id="rId5"/>
    <p:sldId id="259" r:id="rId6"/>
    <p:sldId id="267" r:id="rId7"/>
    <p:sldId id="261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AFC"/>
    <a:srgbClr val="66CCFF"/>
    <a:srgbClr val="BFBFBF"/>
    <a:srgbClr val="136ADD"/>
    <a:srgbClr val="193DD7"/>
    <a:srgbClr val="331DD3"/>
    <a:srgbClr val="0066FF"/>
    <a:srgbClr val="4550E5"/>
    <a:srgbClr val="1F1F1F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307" y="8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8" name="Google Shape;8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7" name="Google Shape;14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72FEF2B4-5A99-6485-0E18-2C3C02FEB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5262" y="566916"/>
            <a:ext cx="2361476" cy="1160977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3277C32D-C1A5-8069-0779-5E3DF6B054EB}"/>
              </a:ext>
            </a:extLst>
          </p:cNvPr>
          <p:cNvSpPr txBox="1"/>
          <p:nvPr/>
        </p:nvSpPr>
        <p:spPr>
          <a:xfrm>
            <a:off x="2330777" y="2510373"/>
            <a:ext cx="75304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4800" b="1" dirty="0">
                <a:latin typeface="Fredoka"/>
              </a:rPr>
              <a:t>ALGORITMOS DE BUSQUEDA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E0FB34-197B-1E6B-C30B-8B311617DB27}"/>
              </a:ext>
            </a:extLst>
          </p:cNvPr>
          <p:cNvSpPr txBox="1"/>
          <p:nvPr/>
        </p:nvSpPr>
        <p:spPr>
          <a:xfrm>
            <a:off x="3118262" y="3908286"/>
            <a:ext cx="59554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3600" dirty="0">
                <a:latin typeface="Fredoka"/>
              </a:rPr>
              <a:t>Luis Andrés Llerena Arredondo</a:t>
            </a:r>
          </a:p>
          <a:p>
            <a:r>
              <a:rPr lang="es-CO" sz="3600" dirty="0">
                <a:latin typeface="Fredoka"/>
              </a:rPr>
              <a:t>David Esteban Urrutia Morales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908DB0B-D494-0E90-161B-A96663721B38}"/>
              </a:ext>
            </a:extLst>
          </p:cNvPr>
          <p:cNvSpPr txBox="1"/>
          <p:nvPr/>
        </p:nvSpPr>
        <p:spPr>
          <a:xfrm>
            <a:off x="4257195" y="5675531"/>
            <a:ext cx="3677610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3400" dirty="0">
                <a:latin typeface="Fredoka"/>
              </a:rPr>
              <a:t>Estructura de Datos</a:t>
            </a:r>
          </a:p>
        </p:txBody>
      </p:sp>
    </p:spTree>
    <p:extLst>
      <p:ext uri="{BB962C8B-B14F-4D97-AF65-F5344CB8AC3E}">
        <p14:creationId xmlns:p14="http://schemas.microsoft.com/office/powerpoint/2010/main" val="764163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4063EEEF-9F2D-A998-FBFA-A7C5111BE714}"/>
              </a:ext>
            </a:extLst>
          </p:cNvPr>
          <p:cNvSpPr txBox="1"/>
          <p:nvPr/>
        </p:nvSpPr>
        <p:spPr>
          <a:xfrm>
            <a:off x="1886354" y="706576"/>
            <a:ext cx="84192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4400" dirty="0">
                <a:latin typeface="Fredoka"/>
              </a:rPr>
              <a:t>¿Qué son algoritmos de búsqueda?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AF27A68-21C2-BF21-8227-B0566BE7CDB3}"/>
              </a:ext>
            </a:extLst>
          </p:cNvPr>
          <p:cNvSpPr txBox="1"/>
          <p:nvPr/>
        </p:nvSpPr>
        <p:spPr>
          <a:xfrm>
            <a:off x="3343410" y="1847721"/>
            <a:ext cx="55051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000" dirty="0">
                <a:latin typeface="Fredoka"/>
              </a:rPr>
              <a:t>Un </a:t>
            </a:r>
            <a:r>
              <a:rPr lang="es-MX" sz="2000" b="1" dirty="0">
                <a:latin typeface="Fredoka"/>
              </a:rPr>
              <a:t>algoritmo de búsqueda</a:t>
            </a:r>
            <a:r>
              <a:rPr lang="es-MX" sz="2000" dirty="0">
                <a:latin typeface="Fredoka"/>
              </a:rPr>
              <a:t> es: </a:t>
            </a:r>
            <a:r>
              <a:rPr lang="es-MX" sz="2000" b="1" dirty="0">
                <a:latin typeface="Fredoka"/>
              </a:rPr>
              <a:t>la serie de pasos ordenados que le dices a la computadora para que encuentre un dato</a:t>
            </a:r>
            <a:r>
              <a:rPr lang="es-MX" sz="2000" dirty="0">
                <a:latin typeface="Fredoka"/>
              </a:rPr>
              <a:t> dentro de una lista, una base de datos o un montón de información.</a:t>
            </a:r>
            <a:endParaRPr lang="es-CO" sz="2000" dirty="0">
              <a:latin typeface="Fredoka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44EE2BC-8460-5338-714F-F34875B5A6F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040" t="5085" r="8181" b="4916"/>
          <a:stretch/>
        </p:blipFill>
        <p:spPr>
          <a:xfrm>
            <a:off x="990636" y="3955108"/>
            <a:ext cx="4170147" cy="235232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  <a:effectLst>
            <a:innerShdw blurRad="114300">
              <a:prstClr val="black"/>
            </a:innerShdw>
          </a:effec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B84265B-9080-99B1-C7BC-B361CCE2A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6301" y="3955107"/>
            <a:ext cx="4064578" cy="2352327"/>
          </a:xfrm>
          <a:prstGeom prst="rect">
            <a:avLst/>
          </a:prstGeom>
          <a:effectLst>
            <a:innerShdw blurRad="1143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4083113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/>
          <p:nvPr/>
        </p:nvSpPr>
        <p:spPr>
          <a:xfrm>
            <a:off x="5833544" y="1147899"/>
            <a:ext cx="5863828" cy="3019425"/>
          </a:xfrm>
          <a:prstGeom prst="roundRect">
            <a:avLst>
              <a:gd name="adj" fmla="val 5047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4"/>
          <p:cNvSpPr/>
          <p:nvPr/>
        </p:nvSpPr>
        <p:spPr>
          <a:xfrm>
            <a:off x="376375" y="1452749"/>
            <a:ext cx="5027400" cy="1234200"/>
          </a:xfrm>
          <a:prstGeom prst="roundRect">
            <a:avLst>
              <a:gd name="adj" fmla="val 14035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4"/>
          <p:cNvSpPr/>
          <p:nvPr/>
        </p:nvSpPr>
        <p:spPr>
          <a:xfrm>
            <a:off x="370125" y="3022544"/>
            <a:ext cx="5033700" cy="1234200"/>
          </a:xfrm>
          <a:prstGeom prst="roundRect">
            <a:avLst>
              <a:gd name="adj" fmla="val 17204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370125" y="4792024"/>
            <a:ext cx="5368500" cy="1234200"/>
          </a:xfrm>
          <a:prstGeom prst="roundRect">
            <a:avLst>
              <a:gd name="adj" fmla="val 22641"/>
            </a:avLst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/>
          <p:nvPr/>
        </p:nvSpPr>
        <p:spPr>
          <a:xfrm>
            <a:off x="3223978" y="5117991"/>
            <a:ext cx="2305200" cy="582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6081191" y="1776616"/>
            <a:ext cx="5368500" cy="638100"/>
          </a:xfrm>
          <a:prstGeom prst="roundRect">
            <a:avLst>
              <a:gd name="adj" fmla="val 14925"/>
            </a:avLst>
          </a:prstGeom>
          <a:solidFill>
            <a:srgbClr val="F0FDF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6081194" y="2529024"/>
            <a:ext cx="5368528" cy="638175"/>
          </a:xfrm>
          <a:prstGeom prst="roundRect">
            <a:avLst>
              <a:gd name="adj" fmla="val 14925"/>
            </a:avLst>
          </a:prstGeom>
          <a:solidFill>
            <a:srgbClr val="FEFCE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4"/>
          <p:cNvSpPr/>
          <p:nvPr/>
        </p:nvSpPr>
        <p:spPr>
          <a:xfrm>
            <a:off x="6081194" y="3281499"/>
            <a:ext cx="5368528" cy="638175"/>
          </a:xfrm>
          <a:prstGeom prst="roundRect">
            <a:avLst>
              <a:gd name="adj" fmla="val 14925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4"/>
          <p:cNvSpPr/>
          <p:nvPr/>
        </p:nvSpPr>
        <p:spPr>
          <a:xfrm>
            <a:off x="6081194" y="1776549"/>
            <a:ext cx="47625" cy="638175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6081194" y="2529024"/>
            <a:ext cx="47625" cy="638175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6081194" y="3281499"/>
            <a:ext cx="47625" cy="638175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186274" y="313279"/>
            <a:ext cx="7084166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1. Búsqueda Lineal (O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Buscar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Uno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por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Uno)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14"/>
          <p:cNvSpPr txBox="1"/>
          <p:nvPr/>
        </p:nvSpPr>
        <p:spPr>
          <a:xfrm>
            <a:off x="7118553" y="1278496"/>
            <a:ext cx="5978128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¿Cuánto tiempo tarda? (Tiempo)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 txBox="1"/>
          <p:nvPr/>
        </p:nvSpPr>
        <p:spPr>
          <a:xfrm>
            <a:off x="658087" y="1758450"/>
            <a:ext cx="4556400" cy="8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Recorre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estructura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de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datos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elemento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por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elemento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desde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inicio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hasta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encontrar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objetivo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o </a:t>
            </a:r>
            <a:r>
              <a:rPr lang="en-US" sz="14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llegar</a:t>
            </a:r>
            <a:r>
              <a:rPr lang="en-US" sz="14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al final.</a:t>
            </a:r>
            <a:endParaRPr sz="17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561796" y="3387774"/>
            <a:ext cx="4723308" cy="786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No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requiere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precondiciones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sobre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los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datos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endParaRPr sz="2100" dirty="0"/>
          </a:p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(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pueden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estar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8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desordenados</a:t>
            </a:r>
            <a:r>
              <a:rPr lang="en-US" sz="18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).</a:t>
            </a:r>
            <a:endParaRPr sz="2100" dirty="0"/>
          </a:p>
        </p:txBody>
      </p:sp>
      <p:sp>
        <p:nvSpPr>
          <p:cNvPr id="105" name="Google Shape;105;p14"/>
          <p:cNvSpPr txBox="1"/>
          <p:nvPr/>
        </p:nvSpPr>
        <p:spPr>
          <a:xfrm>
            <a:off x="856745" y="5093524"/>
            <a:ext cx="2811900" cy="63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2050" b="1" i="0" u="none" strike="noStrike" cap="none" dirty="0">
                <a:solidFill>
                  <a:srgbClr val="334155"/>
                </a:solidFill>
                <a:latin typeface="Nunito"/>
                <a:ea typeface="Nunito"/>
                <a:cs typeface="Nunito"/>
                <a:sym typeface="Nunito"/>
              </a:rPr>
              <a:t>Espacio que </a:t>
            </a:r>
            <a:r>
              <a:rPr lang="en-US" sz="2050" b="1" i="0" u="none" strike="noStrike" cap="none" dirty="0" err="1">
                <a:solidFill>
                  <a:srgbClr val="334155"/>
                </a:solidFill>
                <a:latin typeface="Nunito"/>
                <a:ea typeface="Nunito"/>
                <a:cs typeface="Nunito"/>
                <a:sym typeface="Nunito"/>
              </a:rPr>
              <a:t>usa</a:t>
            </a:r>
            <a:r>
              <a:rPr lang="en-US" sz="2050" b="1" i="0" u="none" strike="noStrike" cap="none" dirty="0">
                <a:solidFill>
                  <a:srgbClr val="334155"/>
                </a:solidFill>
                <a:latin typeface="Nunito"/>
                <a:ea typeface="Nunito"/>
                <a:cs typeface="Nunito"/>
                <a:sym typeface="Nunito"/>
              </a:rPr>
              <a:t> (Memoria):</a:t>
            </a:r>
            <a:endParaRPr sz="24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3276480" y="5250707"/>
            <a:ext cx="2200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Súper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poquito</a:t>
            </a:r>
            <a:endParaRPr sz="2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983775" y="1479509"/>
            <a:ext cx="18126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¿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En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qué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consiste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?</a:t>
            </a:r>
            <a:endParaRPr sz="17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885500" y="3078109"/>
            <a:ext cx="2287800" cy="2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¿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Qué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 </a:t>
            </a:r>
            <a:r>
              <a:rPr lang="en-US" sz="1650" b="1" i="0" u="none" strike="noStrike" cap="none" dirty="0" err="1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necesitas</a:t>
            </a:r>
            <a:r>
              <a:rPr lang="en-US" sz="1650" b="1" i="0" u="none" strike="noStrike" cap="none" dirty="0">
                <a:solidFill>
                  <a:srgbClr val="1E293B"/>
                </a:solidFill>
                <a:latin typeface="Fredoka"/>
                <a:ea typeface="Fredoka"/>
                <a:cs typeface="Fredoka"/>
                <a:sym typeface="Fredoka"/>
              </a:rPr>
              <a:t> antes?</a:t>
            </a:r>
            <a:endParaRPr sz="17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6299495" y="1831282"/>
            <a:ext cx="3278400" cy="223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450" b="1" i="0" u="none" strike="noStrike" cap="none" dirty="0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Mejor</a:t>
            </a:r>
            <a:r>
              <a:rPr lang="en-US" sz="1450" b="1" i="0" u="none" strike="noStrike" cap="none" dirty="0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caso</a:t>
            </a:r>
            <a:r>
              <a:rPr lang="en-US" sz="1450" b="1" i="0" u="none" strike="noStrike" cap="none" dirty="0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: Ω(1)</a:t>
            </a:r>
            <a:endParaRPr sz="14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6262166" y="2086191"/>
            <a:ext cx="5265600" cy="23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El </a:t>
            </a:r>
            <a:r>
              <a:rPr lang="en-US" sz="155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elemento</a:t>
            </a: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se </a:t>
            </a:r>
            <a:r>
              <a:rPr lang="en-US" sz="155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encuentra</a:t>
            </a: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5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55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primera</a:t>
            </a: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5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posición</a:t>
            </a:r>
            <a:r>
              <a:rPr lang="en-US" sz="155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155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6262160" y="2584249"/>
            <a:ext cx="32784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450" b="1" i="0" u="none" strike="noStrike" cap="none" dirty="0">
                <a:solidFill>
                  <a:srgbClr val="A16207"/>
                </a:solidFill>
                <a:latin typeface="Nunito"/>
                <a:ea typeface="Nunito"/>
                <a:cs typeface="Nunito"/>
                <a:sym typeface="Nunito"/>
              </a:rPr>
              <a:t>Caso </a:t>
            </a:r>
            <a:r>
              <a:rPr lang="en-US" sz="1450" b="1" i="0" u="none" strike="noStrike" cap="none" dirty="0" err="1">
                <a:solidFill>
                  <a:srgbClr val="A16207"/>
                </a:solidFill>
                <a:latin typeface="Nunito"/>
                <a:ea typeface="Nunito"/>
                <a:cs typeface="Nunito"/>
                <a:sym typeface="Nunito"/>
              </a:rPr>
              <a:t>Promedio</a:t>
            </a:r>
            <a:r>
              <a:rPr lang="en-US" sz="1450" b="1" i="0" u="none" strike="noStrike" cap="none" dirty="0">
                <a:solidFill>
                  <a:srgbClr val="A16207"/>
                </a:solidFill>
                <a:latin typeface="Nunito"/>
                <a:ea typeface="Nunito"/>
                <a:cs typeface="Nunito"/>
                <a:sym typeface="Nunito"/>
              </a:rPr>
              <a:t>: Θ(n)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6238425" y="2848900"/>
            <a:ext cx="4122600" cy="2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75" b="1" i="0" u="none" strike="noStrike" cap="none" dirty="0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El </a:t>
            </a:r>
            <a:r>
              <a:rPr lang="en-US" sz="1575" b="1" i="0" u="none" strike="noStrike" cap="none" dirty="0" err="1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elemento</a:t>
            </a:r>
            <a:r>
              <a:rPr lang="en-US" sz="1575" b="1" i="0" u="none" strike="noStrike" cap="none" dirty="0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 se </a:t>
            </a:r>
            <a:r>
              <a:rPr lang="en-US" sz="1575" b="1" i="0" u="none" strike="noStrike" cap="none" dirty="0" err="1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encuentra</a:t>
            </a:r>
            <a:r>
              <a:rPr lang="en-US" sz="1575" b="1" i="0" u="none" strike="noStrike" cap="none" dirty="0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75" b="1" i="0" u="none" strike="noStrike" cap="none" dirty="0" err="1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575" b="1" i="0" u="none" strike="noStrike" cap="none" dirty="0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75" b="1" i="0" u="none" strike="noStrike" cap="none" dirty="0" err="1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el</a:t>
            </a:r>
            <a:r>
              <a:rPr lang="en-US" sz="1575" b="1" i="0" u="none" strike="noStrike" cap="none" dirty="0">
                <a:solidFill>
                  <a:srgbClr val="854D0E"/>
                </a:solidFill>
                <a:latin typeface="Nunito"/>
                <a:ea typeface="Nunito"/>
                <a:cs typeface="Nunito"/>
                <a:sym typeface="Nunito"/>
              </a:rPr>
              <a:t> medio.</a:t>
            </a:r>
            <a:endParaRPr sz="20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13" name="Google Shape;113;p14"/>
          <p:cNvSpPr txBox="1"/>
          <p:nvPr/>
        </p:nvSpPr>
        <p:spPr>
          <a:xfrm>
            <a:off x="6262160" y="3348808"/>
            <a:ext cx="1455600" cy="2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450" b="1" i="0" u="none" strike="noStrike" cap="none" dirty="0" err="1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Peor</a:t>
            </a:r>
            <a:r>
              <a:rPr lang="en-US" sz="1450" b="1" i="0" u="none" strike="noStrike" cap="none" dirty="0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caso</a:t>
            </a:r>
            <a:r>
              <a:rPr lang="en-US" sz="1450" b="1" i="0" u="none" strike="noStrike" cap="none" dirty="0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: O(n)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6262166" y="3614866"/>
            <a:ext cx="4210500" cy="23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50" b="1" i="0" u="none" strike="noStrike" cap="none" dirty="0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El </a:t>
            </a:r>
            <a:r>
              <a:rPr lang="en-US" sz="1550" b="1" i="0" u="none" strike="noStrike" cap="none" dirty="0" err="1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elemento</a:t>
            </a:r>
            <a:r>
              <a:rPr lang="en-US" sz="1550" b="1" i="0" u="none" strike="noStrike" cap="none" dirty="0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50" b="1" i="0" u="none" strike="noStrike" cap="none" dirty="0" err="1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está</a:t>
            </a:r>
            <a:r>
              <a:rPr lang="en-US" sz="1550" b="1" i="0" u="none" strike="noStrike" cap="none" dirty="0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 al final o no </a:t>
            </a:r>
            <a:r>
              <a:rPr lang="en-US" sz="1550" b="1" i="0" u="none" strike="noStrike" cap="none" dirty="0" err="1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existe</a:t>
            </a:r>
            <a:r>
              <a:rPr lang="en-US" sz="1550" b="1" i="0" u="none" strike="noStrike" cap="none" dirty="0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1550" b="1" i="0" u="none" strike="noStrike" cap="none" dirty="0">
              <a:solidFill>
                <a:srgbClr val="991B1B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5F43B97F-21C7-FA67-7801-EC6275F77AB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61" t="-455" r="-217" b="-558"/>
          <a:stretch/>
        </p:blipFill>
        <p:spPr>
          <a:xfrm>
            <a:off x="6738227" y="4335873"/>
            <a:ext cx="4240750" cy="2337640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5"/>
          <p:cNvSpPr/>
          <p:nvPr/>
        </p:nvSpPr>
        <p:spPr>
          <a:xfrm>
            <a:off x="651356" y="1165925"/>
            <a:ext cx="3225043" cy="2382635"/>
          </a:xfrm>
          <a:prstGeom prst="roundRect">
            <a:avLst>
              <a:gd name="adj" fmla="val 4568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4144358" y="3580299"/>
            <a:ext cx="3919500" cy="2725500"/>
          </a:xfrm>
          <a:prstGeom prst="roundRect">
            <a:avLst>
              <a:gd name="adj" fmla="val 3888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/>
          <p:nvPr/>
        </p:nvSpPr>
        <p:spPr>
          <a:xfrm>
            <a:off x="8264802" y="1165925"/>
            <a:ext cx="3421959" cy="2535036"/>
          </a:xfrm>
          <a:prstGeom prst="roundRect">
            <a:avLst>
              <a:gd name="adj" fmla="val 4568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5"/>
          <p:cNvSpPr/>
          <p:nvPr/>
        </p:nvSpPr>
        <p:spPr>
          <a:xfrm>
            <a:off x="4353908" y="4013865"/>
            <a:ext cx="3500437" cy="800100"/>
          </a:xfrm>
          <a:prstGeom prst="roundRect">
            <a:avLst>
              <a:gd name="adj" fmla="val 9523"/>
            </a:avLst>
          </a:prstGeom>
          <a:solidFill>
            <a:srgbClr val="F8FAFC"/>
          </a:solidFill>
          <a:ln w="9525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5"/>
          <p:cNvSpPr/>
          <p:nvPr/>
        </p:nvSpPr>
        <p:spPr>
          <a:xfrm>
            <a:off x="4353908" y="5028100"/>
            <a:ext cx="3500400" cy="1177200"/>
          </a:xfrm>
          <a:prstGeom prst="roundRect">
            <a:avLst>
              <a:gd name="adj" fmla="val 9523"/>
            </a:avLst>
          </a:prstGeom>
          <a:solidFill>
            <a:srgbClr val="F8FAFC"/>
          </a:solidFill>
          <a:ln w="9525" cap="flat" cmpd="sng">
            <a:solidFill>
              <a:srgbClr val="CBD5E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5"/>
          <p:cNvSpPr/>
          <p:nvPr/>
        </p:nvSpPr>
        <p:spPr>
          <a:xfrm>
            <a:off x="8535203" y="1524842"/>
            <a:ext cx="2898000" cy="680564"/>
          </a:xfrm>
          <a:prstGeom prst="roundRect">
            <a:avLst>
              <a:gd name="adj" fmla="val 8791"/>
            </a:avLst>
          </a:prstGeom>
          <a:solidFill>
            <a:srgbClr val="F0FDF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5"/>
          <p:cNvSpPr/>
          <p:nvPr/>
        </p:nvSpPr>
        <p:spPr>
          <a:xfrm>
            <a:off x="8535203" y="2299850"/>
            <a:ext cx="2917031" cy="866775"/>
          </a:xfrm>
          <a:prstGeom prst="roundRect">
            <a:avLst>
              <a:gd name="adj" fmla="val 8791"/>
            </a:avLst>
          </a:prstGeom>
          <a:solidFill>
            <a:srgbClr val="E0F2F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186274" y="304812"/>
            <a:ext cx="6107084" cy="4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2. Búsqueda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Binaria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(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Cortar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a la </a:t>
            </a:r>
            <a:r>
              <a:rPr lang="en-US" sz="27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mitad</a:t>
            </a:r>
            <a:r>
              <a:rPr lang="en-US" sz="27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) 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4327456" y="3623704"/>
            <a:ext cx="36033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85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Cómo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sabe 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dónde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buscar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?</a:t>
            </a:r>
            <a:endParaRPr sz="19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4506421" y="4061190"/>
            <a:ext cx="33672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 b="1" i="0" u="none" strike="noStrike" cap="none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El Rango [Izquierda, Derecha]</a:t>
            </a:r>
            <a:endParaRPr sz="1900" b="1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4506432" y="5134373"/>
            <a:ext cx="3367200" cy="22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 b="1" i="0" u="none" strike="noStrike" cap="none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¿Cuándo se detiene el programa?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9440080" y="1159089"/>
            <a:ext cx="80224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Rapidez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8649502" y="1639141"/>
            <a:ext cx="27837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Mejor</a:t>
            </a:r>
            <a:r>
              <a:rPr lang="en-US" sz="130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Caso </a:t>
            </a: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Salió</a:t>
            </a:r>
            <a:r>
              <a:rPr lang="en-US" sz="130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justo</a:t>
            </a:r>
            <a:r>
              <a:rPr lang="en-US" sz="130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30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el</a:t>
            </a:r>
            <a:r>
              <a:rPr lang="en-US" sz="1300" b="1" i="0" u="none" strike="noStrike" cap="none" dirty="0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centro</a:t>
            </a:r>
            <a:endParaRPr sz="13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34" name="Google Shape;134;p15"/>
          <p:cNvSpPr txBox="1"/>
          <p:nvPr/>
        </p:nvSpPr>
        <p:spPr>
          <a:xfrm>
            <a:off x="8649503" y="2389214"/>
            <a:ext cx="2783700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300" b="1" i="0" u="none" strike="noStrike" cap="none" dirty="0" err="1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Peor</a:t>
            </a:r>
            <a:r>
              <a:rPr lang="en-US" sz="1300" b="1" i="0" u="none" strike="noStrike" cap="none" dirty="0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 Caso </a:t>
            </a:r>
            <a:r>
              <a:rPr lang="en-US" sz="1300" b="1" i="0" u="none" strike="noStrike" cap="none" dirty="0" err="1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rapidísimo</a:t>
            </a:r>
            <a:r>
              <a:rPr lang="en-US" sz="1300" b="1" i="0" u="none" strike="noStrike" cap="none" dirty="0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 Divide a la </a:t>
            </a:r>
            <a:r>
              <a:rPr lang="en-US" sz="1300" b="1" i="0" u="none" strike="noStrike" cap="none" dirty="0" err="1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mitad</a:t>
            </a:r>
            <a:r>
              <a:rPr lang="en-US" sz="1300" b="1" i="0" u="none" strike="noStrike" cap="none" dirty="0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muchas</a:t>
            </a:r>
            <a:r>
              <a:rPr lang="en-US" sz="1300" b="1" i="0" u="none" strike="noStrike" cap="none" dirty="0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00" b="1" i="0" u="none" strike="noStrike" cap="none" dirty="0" err="1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veces</a:t>
            </a:r>
            <a:r>
              <a:rPr lang="en-US" sz="1300" b="1" i="0" u="none" strike="noStrike" cap="none" dirty="0">
                <a:solidFill>
                  <a:srgbClr val="0369A1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13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5"/>
          <p:cNvSpPr txBox="1"/>
          <p:nvPr/>
        </p:nvSpPr>
        <p:spPr>
          <a:xfrm>
            <a:off x="1383659" y="1226856"/>
            <a:ext cx="176043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¿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Cómo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funciona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Fredoka"/>
                <a:ea typeface="Fredoka"/>
                <a:cs typeface="Fredoka"/>
                <a:sym typeface="Fredoka"/>
              </a:rPr>
              <a:t>?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15"/>
          <p:cNvSpPr txBox="1"/>
          <p:nvPr/>
        </p:nvSpPr>
        <p:spPr>
          <a:xfrm>
            <a:off x="794433" y="1745671"/>
            <a:ext cx="3012300" cy="133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Usa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técnica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de "Divide y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Vencerás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".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vez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de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revisar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todo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,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miras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mitad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y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descartas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parte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donde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sabes que no </a:t>
            </a:r>
            <a:r>
              <a:rPr lang="en-US" sz="1450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está</a:t>
            </a:r>
            <a:r>
              <a:rPr lang="en-US" sz="1450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145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37" name="Google Shape;137;p15"/>
          <p:cNvSpPr txBox="1"/>
          <p:nvPr/>
        </p:nvSpPr>
        <p:spPr>
          <a:xfrm>
            <a:off x="4477733" y="4347240"/>
            <a:ext cx="33480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275" b="1" i="0" u="none" strike="noStrike" cap="none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 dato SIEMPRE tiene que estar atrapado entre el límite izquierdo y el derecho.</a:t>
            </a:r>
            <a:endParaRPr sz="1700" b="1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138" name="Google Shape;138;p15"/>
          <p:cNvSpPr txBox="1"/>
          <p:nvPr/>
        </p:nvSpPr>
        <p:spPr>
          <a:xfrm>
            <a:off x="4477733" y="5466934"/>
            <a:ext cx="3348000" cy="6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1. </a:t>
            </a:r>
            <a:r>
              <a:rPr lang="en-US" sz="147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Cuando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lo </a:t>
            </a:r>
            <a:r>
              <a:rPr lang="en-US" sz="147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encuentra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br>
              <a:rPr lang="en-US" sz="23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2. O </a:t>
            </a:r>
            <a:r>
              <a:rPr lang="en-US" sz="147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si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475" b="1" i="0" u="none" strike="noStrike" cap="none" dirty="0" err="1">
                <a:solidFill>
                  <a:srgbClr val="EF4444"/>
                </a:solidFill>
                <a:latin typeface="Nunito"/>
                <a:ea typeface="Nunito"/>
                <a:cs typeface="Nunito"/>
                <a:sym typeface="Nunito"/>
              </a:rPr>
              <a:t>izquierda</a:t>
            </a:r>
            <a:r>
              <a:rPr lang="en-US" sz="1475" b="1" i="0" u="none" strike="noStrike" cap="none" dirty="0">
                <a:solidFill>
                  <a:srgbClr val="EF4444"/>
                </a:solidFill>
                <a:latin typeface="Nunito"/>
                <a:ea typeface="Nunito"/>
                <a:cs typeface="Nunito"/>
                <a:sym typeface="Nunito"/>
              </a:rPr>
              <a:t> &gt; </a:t>
            </a:r>
            <a:r>
              <a:rPr lang="en-US" sz="1475" b="1" i="0" u="none" strike="noStrike" cap="none" dirty="0" err="1">
                <a:solidFill>
                  <a:srgbClr val="EF4444"/>
                </a:solidFill>
                <a:latin typeface="Nunito"/>
                <a:ea typeface="Nunito"/>
                <a:cs typeface="Nunito"/>
                <a:sym typeface="Nunito"/>
              </a:rPr>
              <a:t>derecha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(</a:t>
            </a:r>
            <a:r>
              <a:rPr lang="en-US" sz="147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significa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que no </a:t>
            </a:r>
            <a:r>
              <a:rPr lang="en-US" sz="147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existe</a:t>
            </a:r>
            <a:r>
              <a:rPr lang="en-US" sz="147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).</a:t>
            </a:r>
            <a:endParaRPr sz="19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39" name="Google Shape;139;p15"/>
          <p:cNvSpPr txBox="1"/>
          <p:nvPr/>
        </p:nvSpPr>
        <p:spPr>
          <a:xfrm>
            <a:off x="8708778" y="1856873"/>
            <a:ext cx="897600" cy="33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2150" b="1" i="0" u="none" strike="noStrike" cap="none" dirty="0">
                <a:solidFill>
                  <a:srgbClr val="15803D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Ω(1)</a:t>
            </a:r>
            <a:endParaRPr sz="2200" b="1" i="0" u="none" strike="noStrike" cap="none" dirty="0">
              <a:solidFill>
                <a:srgbClr val="000000"/>
              </a:solidFill>
            </a:endParaRPr>
          </a:p>
        </p:txBody>
      </p:sp>
      <p:sp>
        <p:nvSpPr>
          <p:cNvPr id="140" name="Google Shape;140;p15"/>
          <p:cNvSpPr txBox="1"/>
          <p:nvPr/>
        </p:nvSpPr>
        <p:spPr>
          <a:xfrm>
            <a:off x="8649515" y="2809425"/>
            <a:ext cx="17907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lang="en-US" sz="1850" b="1" i="0" u="none" strike="noStrike" cap="none">
                <a:solidFill>
                  <a:srgbClr val="0284C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O(log n)</a:t>
            </a:r>
            <a:endParaRPr sz="1900" b="1" i="0" u="none" strike="noStrike" cap="none">
              <a:solidFill>
                <a:srgbClr val="000000"/>
              </a:solidFill>
            </a:endParaRPr>
          </a:p>
        </p:txBody>
      </p:sp>
      <p:sp>
        <p:nvSpPr>
          <p:cNvPr id="141" name="Google Shape;141;p15"/>
          <p:cNvSpPr txBox="1"/>
          <p:nvPr/>
        </p:nvSpPr>
        <p:spPr>
          <a:xfrm>
            <a:off x="8474229" y="3289542"/>
            <a:ext cx="3348000" cy="24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575" b="1" i="0" u="none" strike="noStrike" cap="none" dirty="0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Espacio: O(1) </a:t>
            </a:r>
            <a:r>
              <a:rPr lang="en-US" sz="1575" b="1" i="0" u="none" strike="noStrike" cap="none" dirty="0" err="1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575" b="1" i="0" u="none" strike="noStrike" cap="none" dirty="0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75" b="1" i="0" u="none" strike="noStrike" cap="none" dirty="0" err="1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versión</a:t>
            </a:r>
            <a:r>
              <a:rPr lang="en-US" sz="1575" b="1" i="0" u="none" strike="noStrike" cap="none" dirty="0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575" b="1" i="0" u="none" strike="noStrike" cap="none" dirty="0" err="1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iterativa</a:t>
            </a:r>
            <a:r>
              <a:rPr lang="en-US" sz="1575" b="1" i="0" u="none" strike="noStrike" cap="none" dirty="0">
                <a:solidFill>
                  <a:srgbClr val="1E293B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2000" dirty="0"/>
          </a:p>
        </p:txBody>
      </p:sp>
      <p:pic>
        <p:nvPicPr>
          <p:cNvPr id="144" name="Google Shape;144;p15" title="images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0172" y="3874346"/>
            <a:ext cx="3207092" cy="2229969"/>
          </a:xfrm>
          <a:prstGeom prst="rect">
            <a:avLst/>
          </a:prstGeom>
          <a:ln w="19050"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6D690F08-9C4E-A4D7-CC62-7BD5A7635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8553" y="1281610"/>
            <a:ext cx="3228930" cy="2102739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1028" name="Picture 4" descr="Búsqueda binaria Java - Java">
            <a:extLst>
              <a:ext uri="{FF2B5EF4-FFF2-40B4-BE49-F238E27FC236}">
                <a16:creationId xmlns:a16="http://schemas.microsoft.com/office/drawing/2014/main" id="{47445810-CB0F-A8FE-A420-15A050836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4433" y="3755193"/>
            <a:ext cx="3009892" cy="2349122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"/>
          <p:cNvSpPr/>
          <p:nvPr/>
        </p:nvSpPr>
        <p:spPr>
          <a:xfrm>
            <a:off x="588350" y="1708300"/>
            <a:ext cx="5372100" cy="27528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"/>
          <p:cNvSpPr/>
          <p:nvPr/>
        </p:nvSpPr>
        <p:spPr>
          <a:xfrm>
            <a:off x="6096000" y="1735850"/>
            <a:ext cx="5372100" cy="2752800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9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"/>
          <p:cNvSpPr/>
          <p:nvPr/>
        </p:nvSpPr>
        <p:spPr>
          <a:xfrm>
            <a:off x="800758" y="3239035"/>
            <a:ext cx="5009492" cy="1069689"/>
          </a:xfrm>
          <a:prstGeom prst="roundRect">
            <a:avLst>
              <a:gd name="adj" fmla="val 18604"/>
            </a:avLst>
          </a:prstGeom>
          <a:solidFill>
            <a:srgbClr val="F8FAFC"/>
          </a:solidFill>
          <a:ln w="15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350" tIns="72150" rIns="144350" bIns="721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42"/>
              <a:buFont typeface="Arial"/>
              <a:buNone/>
            </a:pPr>
            <a:endParaRPr sz="3158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"/>
          <p:cNvSpPr/>
          <p:nvPr/>
        </p:nvSpPr>
        <p:spPr>
          <a:xfrm>
            <a:off x="6381750" y="2303110"/>
            <a:ext cx="4800600" cy="815700"/>
          </a:xfrm>
          <a:prstGeom prst="roundRect">
            <a:avLst>
              <a:gd name="adj" fmla="val 13114"/>
            </a:avLst>
          </a:prstGeom>
          <a:solidFill>
            <a:srgbClr val="F0FDF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"/>
          <p:cNvSpPr/>
          <p:nvPr/>
        </p:nvSpPr>
        <p:spPr>
          <a:xfrm>
            <a:off x="6381750" y="3350337"/>
            <a:ext cx="4800600" cy="815700"/>
          </a:xfrm>
          <a:prstGeom prst="roundRect">
            <a:avLst>
              <a:gd name="adj" fmla="val 13114"/>
            </a:avLst>
          </a:prstGeom>
          <a:solidFill>
            <a:srgbClr val="FEF2F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"/>
          <p:cNvSpPr/>
          <p:nvPr/>
        </p:nvSpPr>
        <p:spPr>
          <a:xfrm flipH="1">
            <a:off x="6419850" y="2303110"/>
            <a:ext cx="38100" cy="8157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"/>
          <p:cNvSpPr/>
          <p:nvPr/>
        </p:nvSpPr>
        <p:spPr>
          <a:xfrm flipH="1">
            <a:off x="6419850" y="3350387"/>
            <a:ext cx="38100" cy="8157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"/>
          <p:cNvSpPr txBox="1"/>
          <p:nvPr/>
        </p:nvSpPr>
        <p:spPr>
          <a:xfrm>
            <a:off x="186274" y="296345"/>
            <a:ext cx="6300900" cy="3847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3. </a:t>
            </a:r>
            <a:r>
              <a:rPr lang="en-US" sz="250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Tablas</a:t>
            </a:r>
            <a:r>
              <a:rPr lang="en-US" sz="250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Hash (</a:t>
            </a:r>
            <a:r>
              <a:rPr lang="en-US" sz="250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Acceso</a:t>
            </a:r>
            <a:r>
              <a:rPr lang="en-US" sz="250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Directo</a:t>
            </a:r>
            <a:r>
              <a:rPr lang="en-US" sz="250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50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Secreto</a:t>
            </a:r>
            <a:r>
              <a:rPr lang="en-US" sz="250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) </a:t>
            </a:r>
            <a:endParaRPr sz="2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"/>
          <p:cNvSpPr txBox="1"/>
          <p:nvPr/>
        </p:nvSpPr>
        <p:spPr>
          <a:xfrm>
            <a:off x="1700575" y="1719171"/>
            <a:ext cx="2950500" cy="5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¿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Cómo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funciona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magia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"/>
          <p:cNvSpPr txBox="1"/>
          <p:nvPr/>
        </p:nvSpPr>
        <p:spPr>
          <a:xfrm>
            <a:off x="936308" y="2275548"/>
            <a:ext cx="49722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Usa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una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"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Función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Hash" que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convierte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un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nombre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o clave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directamente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en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la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posición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exacta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donde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está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guardado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el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 </a:t>
            </a:r>
            <a:r>
              <a:rPr lang="en-US" sz="1325" b="1" i="0" u="none" strike="noStrike" cap="none" dirty="0" err="1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dato</a:t>
            </a:r>
            <a:r>
              <a:rPr lang="en-US" sz="1325" b="1" i="0" u="none" strike="noStrike" cap="none" dirty="0">
                <a:solidFill>
                  <a:srgbClr val="475569"/>
                </a:solidFill>
                <a:latin typeface="Nunito"/>
                <a:ea typeface="Nunito"/>
                <a:cs typeface="Nunito"/>
                <a:sym typeface="Nunito"/>
              </a:rPr>
              <a:t>.</a:t>
            </a:r>
            <a:endParaRPr sz="16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"/>
          <p:cNvSpPr txBox="1"/>
          <p:nvPr/>
        </p:nvSpPr>
        <p:spPr>
          <a:xfrm>
            <a:off x="996800" y="3571012"/>
            <a:ext cx="4667400" cy="2854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39"/>
              <a:buFont typeface="Arial"/>
              <a:buNone/>
            </a:pP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Clave ("Juan") 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Wingdings" panose="05000000000000000000" pitchFamily="2" charset="2"/>
              </a:rPr>
              <a:t>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[</a:t>
            </a:r>
            <a:r>
              <a:rPr lang="en-US" sz="1855" b="0" i="0" u="none" strike="noStrike" cap="none" dirty="0" err="1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Función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Hash] 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Wingdings" panose="05000000000000000000" pitchFamily="2" charset="2"/>
              </a:rPr>
              <a:t>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1855" b="0" i="0" u="none" strike="noStrike" cap="none" dirty="0" err="1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Posición</a:t>
            </a:r>
            <a:r>
              <a:rPr lang="en-US" sz="1855" b="0" i="0" u="none" strike="noStrike" cap="none" dirty="0">
                <a:solidFill>
                  <a:srgbClr val="6B21A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#5</a:t>
            </a:r>
            <a:endParaRPr sz="2526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"/>
          <p:cNvSpPr txBox="1"/>
          <p:nvPr/>
        </p:nvSpPr>
        <p:spPr>
          <a:xfrm>
            <a:off x="7465638" y="1786883"/>
            <a:ext cx="5696100" cy="2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¿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Qué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tan </a:t>
            </a:r>
            <a:r>
              <a:rPr lang="en-US" sz="1850" b="1" i="0" u="none" strike="noStrike" cap="none" dirty="0" err="1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rápido</a:t>
            </a:r>
            <a:r>
              <a:rPr lang="en-US" sz="18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es?</a:t>
            </a:r>
            <a:endParaRPr sz="16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"/>
          <p:cNvSpPr txBox="1"/>
          <p:nvPr/>
        </p:nvSpPr>
        <p:spPr>
          <a:xfrm>
            <a:off x="6572250" y="2371737"/>
            <a:ext cx="24081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 b="1" i="0" u="none" strike="noStrike" cap="none">
                <a:solidFill>
                  <a:srgbClr val="15803D"/>
                </a:solidFill>
                <a:latin typeface="Nunito"/>
                <a:ea typeface="Nunito"/>
                <a:cs typeface="Nunito"/>
                <a:sym typeface="Nunito"/>
              </a:rPr>
              <a:t>Casi Siempre: O(1)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"/>
          <p:cNvSpPr txBox="1"/>
          <p:nvPr/>
        </p:nvSpPr>
        <p:spPr>
          <a:xfrm>
            <a:off x="6572250" y="2610237"/>
            <a:ext cx="3621600" cy="4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75"/>
              <a:buFont typeface="Arial"/>
              <a:buNone/>
            </a:pPr>
            <a:r>
              <a:rPr lang="en-US" sz="1475" b="1" i="0" u="none" strike="noStrike" cap="none">
                <a:solidFill>
                  <a:srgbClr val="166534"/>
                </a:solidFill>
                <a:latin typeface="Nunito"/>
                <a:ea typeface="Nunito"/>
                <a:cs typeface="Nunito"/>
                <a:sym typeface="Nunito"/>
              </a:rPr>
              <a:t>Instantáneo va directo a la posición sin buscar nada.</a:t>
            </a:r>
            <a:endParaRPr sz="19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"/>
          <p:cNvSpPr txBox="1"/>
          <p:nvPr/>
        </p:nvSpPr>
        <p:spPr>
          <a:xfrm>
            <a:off x="6572250" y="3418437"/>
            <a:ext cx="30765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550" b="1" i="0" u="none" strike="noStrike" cap="none">
                <a:solidFill>
                  <a:srgbClr val="B91C1C"/>
                </a:solidFill>
                <a:latin typeface="Nunito"/>
                <a:ea typeface="Nunito"/>
                <a:cs typeface="Nunito"/>
                <a:sym typeface="Nunito"/>
              </a:rPr>
              <a:t>Si hay "Colisiones": O(n)</a:t>
            </a:r>
            <a:endParaRPr sz="19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"/>
          <p:cNvSpPr txBox="1"/>
          <p:nvPr/>
        </p:nvSpPr>
        <p:spPr>
          <a:xfrm>
            <a:off x="6514050" y="3656937"/>
            <a:ext cx="4536000" cy="4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9"/>
              <a:buFont typeface="Arial"/>
              <a:buNone/>
            </a:pPr>
            <a:r>
              <a:rPr lang="en-US" sz="1299" b="1" i="0" u="none" strike="noStrike" cap="none">
                <a:solidFill>
                  <a:srgbClr val="991B1B"/>
                </a:solidFill>
                <a:latin typeface="Nunito"/>
                <a:ea typeface="Nunito"/>
                <a:cs typeface="Nunito"/>
                <a:sym typeface="Nunito"/>
              </a:rPr>
              <a:t>Ocurre si dos claves terminan cayendo en la misma casilla por accidente.</a:t>
            </a:r>
            <a:endParaRPr sz="166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Google Shape;171;p1">
            <a:extLst>
              <a:ext uri="{FF2B5EF4-FFF2-40B4-BE49-F238E27FC236}">
                <a16:creationId xmlns:a16="http://schemas.microsoft.com/office/drawing/2014/main" id="{95957064-A34F-87F9-5B3C-81064E378DDD}"/>
              </a:ext>
            </a:extLst>
          </p:cNvPr>
          <p:cNvSpPr/>
          <p:nvPr/>
        </p:nvSpPr>
        <p:spPr>
          <a:xfrm>
            <a:off x="7144630" y="579918"/>
            <a:ext cx="3724189" cy="895195"/>
          </a:xfrm>
          <a:prstGeom prst="roundRect">
            <a:avLst>
              <a:gd name="adj" fmla="val 18604"/>
            </a:avLst>
          </a:prstGeom>
          <a:solidFill>
            <a:srgbClr val="F8FAFC"/>
          </a:solidFill>
          <a:ln w="15050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44350" tIns="72150" rIns="144350" bIns="7215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42"/>
              <a:buFont typeface="Arial"/>
              <a:buNone/>
            </a:pPr>
            <a:endParaRPr sz="315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"/>
          <p:cNvSpPr txBox="1"/>
          <p:nvPr/>
        </p:nvSpPr>
        <p:spPr>
          <a:xfrm>
            <a:off x="7265688" y="676844"/>
            <a:ext cx="3482071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 err="1"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800" b="1" i="0" u="none" strike="noStrike" cap="none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1" i="0" u="none" strike="noStrike" cap="none" dirty="0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Python</a:t>
            </a:r>
            <a:r>
              <a:rPr lang="en-US" sz="1800" b="1" i="0" u="none" strike="noStrike" cap="none" dirty="0"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800" b="1" i="0" u="none" strike="noStrike" cap="none" dirty="0" err="1">
                <a:latin typeface="Arial"/>
                <a:ea typeface="Arial"/>
                <a:cs typeface="Arial"/>
                <a:sym typeface="Arial"/>
              </a:rPr>
              <a:t>conocen</a:t>
            </a:r>
            <a:r>
              <a:rPr lang="en-US" sz="1800" b="1" i="0" u="none" strike="noStrike" cap="none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b="1" i="0" u="none" strike="noStrike" cap="none" dirty="0" err="1">
                <a:latin typeface="Arial"/>
                <a:ea typeface="Arial"/>
                <a:cs typeface="Arial"/>
                <a:sym typeface="Arial"/>
              </a:rPr>
              <a:t>como</a:t>
            </a:r>
            <a:r>
              <a:rPr lang="en-US" sz="1800" b="1" i="0" u="none" strike="noStrike" cap="none" dirty="0"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-US" sz="1800" b="1" i="0" u="none" strike="noStrike" cap="none" dirty="0" err="1">
                <a:solidFill>
                  <a:srgbClr val="FFCC00"/>
                </a:solidFill>
                <a:latin typeface="Arial"/>
                <a:ea typeface="Arial"/>
                <a:cs typeface="Arial"/>
                <a:sym typeface="Arial"/>
              </a:rPr>
              <a:t>Diccionarios</a:t>
            </a:r>
            <a:endParaRPr sz="1800" b="1" i="0" u="none" strike="noStrike" cap="none" dirty="0">
              <a:solidFill>
                <a:srgbClr val="FFCC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C9FF76E-193F-B8FD-6975-7C0E228620C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858" t="3793" r="3545" b="8696"/>
          <a:stretch/>
        </p:blipFill>
        <p:spPr>
          <a:xfrm>
            <a:off x="4100768" y="4615324"/>
            <a:ext cx="3990464" cy="2057091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55B6609-6BA3-5A64-57D7-40E49C3C11F1}"/>
              </a:ext>
            </a:extLst>
          </p:cNvPr>
          <p:cNvSpPr txBox="1"/>
          <p:nvPr/>
        </p:nvSpPr>
        <p:spPr>
          <a:xfrm>
            <a:off x="557661" y="1354152"/>
            <a:ext cx="836189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6000" b="1" dirty="0">
                <a:solidFill>
                  <a:schemeClr val="tx1"/>
                </a:solidFill>
                <a:latin typeface="Fredoka"/>
              </a:rPr>
              <a:t>Demostración: </a:t>
            </a:r>
            <a:r>
              <a:rPr lang="es-CO" sz="4800" b="1" dirty="0">
                <a:solidFill>
                  <a:srgbClr val="00B0F0"/>
                </a:solidFill>
                <a:latin typeface="Fredoka"/>
              </a:rPr>
              <a:t>Pasemos al </a:t>
            </a:r>
            <a:r>
              <a:rPr lang="es-CO" sz="4800" b="1" dirty="0">
                <a:solidFill>
                  <a:srgbClr val="136ADD"/>
                </a:solidFill>
                <a:latin typeface="Fredoka"/>
              </a:rPr>
              <a:t>Código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B31236B-2141-D7D1-156B-01369C34CC99}"/>
              </a:ext>
            </a:extLst>
          </p:cNvPr>
          <p:cNvSpPr txBox="1"/>
          <p:nvPr/>
        </p:nvSpPr>
        <p:spPr>
          <a:xfrm>
            <a:off x="557661" y="3749522"/>
            <a:ext cx="96344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400" b="0" i="0" dirty="0">
                <a:solidFill>
                  <a:schemeClr val="tx1"/>
                </a:solidFill>
                <a:effectLst/>
                <a:latin typeface="Fredoka"/>
              </a:rPr>
              <a:t>A continuación analizaremos y pondremos a prueba cada uno de los algoritmos de búsqueda en Python, y la medición de tiempos en consola.</a:t>
            </a:r>
            <a:endParaRPr lang="es-CO" sz="2400" dirty="0">
              <a:solidFill>
                <a:schemeClr val="tx1"/>
              </a:solidFill>
              <a:latin typeface="Fredoka"/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E2C3619-EB1A-4063-887E-2280198D1C62}"/>
              </a:ext>
            </a:extLst>
          </p:cNvPr>
          <p:cNvCxnSpPr>
            <a:cxnSpLocks/>
          </p:cNvCxnSpPr>
          <p:nvPr/>
        </p:nvCxnSpPr>
        <p:spPr>
          <a:xfrm>
            <a:off x="493576" y="739838"/>
            <a:ext cx="11204848" cy="0"/>
          </a:xfrm>
          <a:prstGeom prst="line">
            <a:avLst/>
          </a:prstGeom>
          <a:ln w="28575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cto 14">
            <a:extLst>
              <a:ext uri="{FF2B5EF4-FFF2-40B4-BE49-F238E27FC236}">
                <a16:creationId xmlns:a16="http://schemas.microsoft.com/office/drawing/2014/main" id="{92135B93-79EA-2872-0C5B-7ADA41C96E66}"/>
              </a:ext>
            </a:extLst>
          </p:cNvPr>
          <p:cNvCxnSpPr>
            <a:cxnSpLocks/>
          </p:cNvCxnSpPr>
          <p:nvPr/>
        </p:nvCxnSpPr>
        <p:spPr>
          <a:xfrm>
            <a:off x="493576" y="6175438"/>
            <a:ext cx="11204848" cy="0"/>
          </a:xfrm>
          <a:prstGeom prst="line">
            <a:avLst/>
          </a:prstGeom>
          <a:ln w="28575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0841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56B4AF46-F091-6D3B-1EC8-A7AB80BB19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6912"/>
            <a:ext cx="11970326" cy="6384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4162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B71F42A-8671-36B2-D451-91C9CA6A2A4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7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04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D479A7F9-A184-9FD1-8613-852C259893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BBFFB54-93FF-3FF2-8491-AB1844007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831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1F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636D79BE-5E03-58F0-AF60-75A047447BC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1357"/>
          <a:stretch/>
        </p:blipFill>
        <p:spPr>
          <a:xfrm>
            <a:off x="1" y="1587701"/>
            <a:ext cx="12164374" cy="362438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B13E180-21D7-5B6C-1046-D1FB08576289}"/>
              </a:ext>
            </a:extLst>
          </p:cNvPr>
          <p:cNvSpPr txBox="1"/>
          <p:nvPr/>
        </p:nvSpPr>
        <p:spPr>
          <a:xfrm>
            <a:off x="532014" y="6143106"/>
            <a:ext cx="20008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dirty="0">
                <a:solidFill>
                  <a:schemeClr val="bg1"/>
                </a:solidFill>
                <a:latin typeface="Fredoka"/>
              </a:rPr>
              <a:t>Demostración en colab…</a:t>
            </a:r>
          </a:p>
        </p:txBody>
      </p:sp>
    </p:spTree>
    <p:extLst>
      <p:ext uri="{BB962C8B-B14F-4D97-AF65-F5344CB8AC3E}">
        <p14:creationId xmlns:p14="http://schemas.microsoft.com/office/powerpoint/2010/main" val="3729788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62C8E720-30C7-DFB5-6D5B-C66A52334164}"/>
              </a:ext>
            </a:extLst>
          </p:cNvPr>
          <p:cNvCxnSpPr>
            <a:cxnSpLocks/>
          </p:cNvCxnSpPr>
          <p:nvPr/>
        </p:nvCxnSpPr>
        <p:spPr>
          <a:xfrm>
            <a:off x="609600" y="573578"/>
            <a:ext cx="109728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uadroTexto 5">
            <a:extLst>
              <a:ext uri="{FF2B5EF4-FFF2-40B4-BE49-F238E27FC236}">
                <a16:creationId xmlns:a16="http://schemas.microsoft.com/office/drawing/2014/main" id="{F8C12E34-7EF3-BBD0-007B-39AEED13B6C4}"/>
              </a:ext>
            </a:extLst>
          </p:cNvPr>
          <p:cNvSpPr txBox="1"/>
          <p:nvPr/>
        </p:nvSpPr>
        <p:spPr>
          <a:xfrm>
            <a:off x="4665961" y="2467391"/>
            <a:ext cx="286007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2000" dirty="0">
                <a:latin typeface="Fredoka"/>
              </a:rPr>
              <a:t>FIN DE LA PRESENTACION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CA69770-DF95-04FC-1C6C-D57273E7BCE8}"/>
              </a:ext>
            </a:extLst>
          </p:cNvPr>
          <p:cNvSpPr txBox="1"/>
          <p:nvPr/>
        </p:nvSpPr>
        <p:spPr>
          <a:xfrm>
            <a:off x="3183985" y="2890939"/>
            <a:ext cx="582403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CO" sz="5400" dirty="0">
                <a:latin typeface="Fredoka"/>
              </a:rPr>
              <a:t>¡MUCHAS GRACIAS!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9ABACD20-C217-B832-071B-FA37FCF23ACA}"/>
              </a:ext>
            </a:extLst>
          </p:cNvPr>
          <p:cNvSpPr txBox="1"/>
          <p:nvPr/>
        </p:nvSpPr>
        <p:spPr>
          <a:xfrm>
            <a:off x="1936047" y="3825143"/>
            <a:ext cx="8319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800" b="0" i="0" dirty="0">
                <a:solidFill>
                  <a:srgbClr val="64748B"/>
                </a:solidFill>
                <a:effectLst/>
                <a:latin typeface="Fredoka"/>
              </a:rPr>
              <a:t>Esta fue la exposición sobre los algoritmos de búsqueda y su análisis en código Python.</a:t>
            </a:r>
            <a:endParaRPr lang="es-CO" sz="1800" dirty="0">
              <a:latin typeface="Fredoka"/>
            </a:endParaRPr>
          </a:p>
        </p:txBody>
      </p:sp>
      <p:cxnSp>
        <p:nvCxnSpPr>
          <p:cNvPr id="12" name="Conector recto 11">
            <a:extLst>
              <a:ext uri="{FF2B5EF4-FFF2-40B4-BE49-F238E27FC236}">
                <a16:creationId xmlns:a16="http://schemas.microsoft.com/office/drawing/2014/main" id="{48083C12-C5F6-E4F3-C372-E05A696D478C}"/>
              </a:ext>
            </a:extLst>
          </p:cNvPr>
          <p:cNvCxnSpPr>
            <a:cxnSpLocks/>
          </p:cNvCxnSpPr>
          <p:nvPr/>
        </p:nvCxnSpPr>
        <p:spPr>
          <a:xfrm>
            <a:off x="609600" y="6179127"/>
            <a:ext cx="10972800" cy="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70603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TM02900722[[fn=Sala de reuniones Ion]]</Template>
  <TotalTime>79</TotalTime>
  <Words>472</Words>
  <Application>Microsoft Office PowerPoint</Application>
  <PresentationFormat>Panorámica</PresentationFormat>
  <Paragraphs>51</Paragraphs>
  <Slides>12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8" baseType="lpstr">
      <vt:lpstr>Arial</vt:lpstr>
      <vt:lpstr>Calibri</vt:lpstr>
      <vt:lpstr>Fredoka</vt:lpstr>
      <vt:lpstr>JetBrains Mono</vt:lpstr>
      <vt:lpstr>Nunito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david esteban urrutia</cp:lastModifiedBy>
  <cp:revision>7</cp:revision>
  <dcterms:modified xsi:type="dcterms:W3CDTF">2026-10-21T20:34:04Z</dcterms:modified>
</cp:coreProperties>
</file>